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28700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1"/>
  </p:normalViewPr>
  <p:slideViewPr>
    <p:cSldViewPr snapToGrid="0">
      <p:cViewPr varScale="1">
        <p:scale>
          <a:sx n="26" d="100"/>
          <a:sy n="26" d="100"/>
        </p:scale>
        <p:origin x="2115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8314B01B-E9A8-423A-8B44-96ECCC26D5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447800"/>
          </a:xfrm>
          <a:prstGeom prst="rect">
            <a:avLst/>
          </a:prstGeom>
          <a:solidFill>
            <a:srgbClr val="07386C"/>
          </a:solidFill>
          <a:ln w="0">
            <a:noFill/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8058F58-5532-4CE4-9B53-5BC799701782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666750" cy="666750"/>
          </a:xfrm>
          <a:prstGeom prst="ellips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2871F4-4415-4C9D-9F4B-384A65BCB855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XJTU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0975D8-F7BC-4EE4-85B0-38BA075CA7CF}"/>
              </a:ext>
            </a:extLst>
          </p:cNvPr>
          <p:cNvSpPr>
            <a:spLocks noGrp="1"/>
          </p:cNvSpPr>
          <p:nvPr/>
        </p:nvSpPr>
        <p:spPr>
          <a:xfrm>
            <a:off x="1285875" y="2667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800" b="1" dirty="0" err="1">
                <a:solidFill>
                  <a:srgbClr val="FFFFFF"/>
                </a:solidFill>
              </a:rPr>
              <a:t>西安交通大学</a:t>
            </a:r>
            <a:r>
              <a:rPr lang="zh-CN" altLang="en-US" sz="2800" b="1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</a:rPr>
              <a:t>医</a:t>
            </a:r>
            <a:r>
              <a:rPr lang="zh-CN" altLang="en-US" sz="2800" b="1" dirty="0">
                <a:solidFill>
                  <a:srgbClr val="FFFFFF"/>
                </a:solidFill>
              </a:rPr>
              <a:t>工</a:t>
            </a:r>
            <a:r>
              <a:rPr sz="2800" b="1" dirty="0" err="1">
                <a:solidFill>
                  <a:srgbClr val="FFFFFF"/>
                </a:solidFill>
              </a:rPr>
              <a:t>交叉博士后招聘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402170-2A27-4DA4-8339-A42006FE291D}"/>
              </a:ext>
            </a:extLst>
          </p:cNvPr>
          <p:cNvSpPr>
            <a:spLocks noGrp="1"/>
          </p:cNvSpPr>
          <p:nvPr/>
        </p:nvSpPr>
        <p:spPr>
          <a:xfrm>
            <a:off x="1285874" y="771524"/>
            <a:ext cx="7858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2DEB5"/>
                </a:solidFill>
              </a:defRPr>
            </a:pPr>
            <a:r>
              <a:rPr sz="2800" b="1" dirty="0">
                <a:solidFill>
                  <a:srgbClr val="F2DEB5"/>
                </a:solidFill>
              </a:rPr>
              <a:t>脑—</a:t>
            </a:r>
            <a:r>
              <a:rPr sz="2800" b="1" dirty="0" err="1">
                <a:solidFill>
                  <a:srgbClr val="F2DEB5"/>
                </a:solidFill>
              </a:rPr>
              <a:t>器交互重大脑疾病机制及精准神经调控团队</a:t>
            </a:r>
            <a:endParaRPr sz="2800" b="1" dirty="0">
              <a:solidFill>
                <a:srgbClr val="F2DEB5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697CA-63E0-47F5-A7AF-98F2AD83E45C}"/>
              </a:ext>
            </a:extLst>
          </p:cNvPr>
          <p:cNvSpPr>
            <a:spLocks noGrp="1"/>
          </p:cNvSpPr>
          <p:nvPr/>
        </p:nvSpPr>
        <p:spPr>
          <a:xfrm>
            <a:off x="8734425" y="419100"/>
            <a:ext cx="1095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 / 招聘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C46DB0-4FAC-4EC1-80FB-451094BC0F8D}"/>
              </a:ext>
            </a:extLst>
          </p:cNvPr>
          <p:cNvSpPr>
            <a:spLocks noGrp="1"/>
          </p:cNvSpPr>
          <p:nvPr/>
        </p:nvSpPr>
        <p:spPr>
          <a:xfrm>
            <a:off x="0" y="1390650"/>
            <a:ext cx="10287000" cy="57150"/>
          </a:xfrm>
          <a:prstGeom prst="rect">
            <a:avLst/>
          </a:prstGeom>
          <a:solidFill>
            <a:srgbClr val="D8AD63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65C25A-6FEC-4DDD-9C2D-5928B42A4EFA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895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汇聚临床与工程优势</a:t>
            </a:r>
          </a:p>
          <a:p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寻找下一位脑科学同行者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1A70AB-314B-4918-8E61-C1FF62EC5681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2DEB5"/>
                </a:solidFill>
              </a:defRPr>
            </a:pPr>
            <a:r>
              <a:rPr sz="1800" b="1" dirty="0" err="1">
                <a:solidFill>
                  <a:srgbClr val="F2DEB5"/>
                </a:solidFill>
              </a:rPr>
              <a:t>西安交通大学第一附属医院</a:t>
            </a:r>
            <a:r>
              <a:rPr sz="1800" b="1" dirty="0">
                <a:solidFill>
                  <a:srgbClr val="F2DEB5"/>
                </a:solidFill>
              </a:rPr>
              <a:t> × </a:t>
            </a:r>
            <a:r>
              <a:rPr lang="zh-CN" altLang="en-US" sz="1800" b="1" dirty="0">
                <a:solidFill>
                  <a:srgbClr val="F2DEB5"/>
                </a:solidFill>
              </a:rPr>
              <a:t>西安交通大学</a:t>
            </a:r>
            <a:r>
              <a:rPr sz="1800" b="1" dirty="0" err="1">
                <a:solidFill>
                  <a:srgbClr val="F2DEB5"/>
                </a:solidFill>
              </a:rPr>
              <a:t>生命科学与技术学院</a:t>
            </a:r>
            <a:endParaRPr sz="1800" b="1" dirty="0">
              <a:solidFill>
                <a:srgbClr val="F2DEB5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6F79E7-08C7-46F6-8620-88E7E0B724D6}"/>
              </a:ext>
            </a:extLst>
          </p:cNvPr>
          <p:cNvSpPr>
            <a:spLocks noGrp="1"/>
          </p:cNvSpPr>
          <p:nvPr/>
        </p:nvSpPr>
        <p:spPr>
          <a:xfrm>
            <a:off x="438150" y="3695700"/>
            <a:ext cx="9410700" cy="2305050"/>
          </a:xfrm>
          <a:prstGeom prst="roundRect">
            <a:avLst>
              <a:gd name="adj" fmla="val 4959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CA9357-DFEA-4605-B508-7A426BA54956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2DEB5"/>
                </a:solidFill>
              </a:defRPr>
            </a:pPr>
            <a:r>
              <a:rPr sz="2100" b="1">
                <a:solidFill>
                  <a:srgbClr val="F2DEB5"/>
                </a:solidFill>
              </a:rPr>
              <a:t>联合平台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A0B2EF-BAF8-4133-ABA6-944028B07A5F}"/>
              </a:ext>
            </a:extLst>
          </p:cNvPr>
          <p:cNvSpPr>
            <a:spLocks noGrp="1"/>
          </p:cNvSpPr>
          <p:nvPr/>
        </p:nvSpPr>
        <p:spPr>
          <a:xfrm>
            <a:off x="742950" y="4514849"/>
            <a:ext cx="40767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 dirty="0" err="1">
                <a:solidFill>
                  <a:srgbClr val="FFFFFF"/>
                </a:solidFill>
              </a:rPr>
              <a:t>临床医学平台</a:t>
            </a:r>
            <a:r>
              <a:rPr lang="zh-CN" altLang="en-US" sz="2325" b="1" dirty="0">
                <a:solidFill>
                  <a:srgbClr val="FFFFFF"/>
                </a:solidFill>
              </a:rPr>
              <a:t>（西交一附院）</a:t>
            </a:r>
            <a:endParaRPr sz="2325" b="1" dirty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017118-C83D-41BE-8BE3-B8DE7556DF59}"/>
              </a:ext>
            </a:extLst>
          </p:cNvPr>
          <p:cNvSpPr>
            <a:spLocks noGrp="1"/>
          </p:cNvSpPr>
          <p:nvPr/>
        </p:nvSpPr>
        <p:spPr>
          <a:xfrm>
            <a:off x="742950" y="4933950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CEAF5"/>
                </a:solidFill>
              </a:defRPr>
            </a:pPr>
            <a:r>
              <a:rPr sz="1725" b="0">
                <a:solidFill>
                  <a:srgbClr val="DCEAF5"/>
                </a:solidFill>
              </a:rPr>
              <a:t>多模态影像 · 临床队列 · 神经系统疾病研究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30F559-A074-4A57-B6CE-30326EFA5C3B}"/>
              </a:ext>
            </a:extLst>
          </p:cNvPr>
          <p:cNvSpPr>
            <a:spLocks noGrp="1"/>
          </p:cNvSpPr>
          <p:nvPr/>
        </p:nvSpPr>
        <p:spPr>
          <a:xfrm>
            <a:off x="4819650" y="4229100"/>
            <a:ext cx="19050" cy="1257300"/>
          </a:xfrm>
          <a:prstGeom prst="rect">
            <a:avLst/>
          </a:prstGeom>
          <a:solidFill>
            <a:srgbClr val="D8AD63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431D54-928A-4145-A17E-C7C3469E5852}"/>
              </a:ext>
            </a:extLst>
          </p:cNvPr>
          <p:cNvSpPr>
            <a:spLocks noGrp="1"/>
          </p:cNvSpPr>
          <p:nvPr/>
        </p:nvSpPr>
        <p:spPr>
          <a:xfrm>
            <a:off x="5238750" y="4514850"/>
            <a:ext cx="436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 dirty="0" err="1">
                <a:solidFill>
                  <a:srgbClr val="FFFFFF"/>
                </a:solidFill>
              </a:rPr>
              <a:t>基础研究平台</a:t>
            </a:r>
            <a:r>
              <a:rPr lang="zh-CN" altLang="en-US" sz="2325" b="1" dirty="0">
                <a:solidFill>
                  <a:srgbClr val="FFFFFF"/>
                </a:solidFill>
              </a:rPr>
              <a:t>（西交生命学院）</a:t>
            </a:r>
            <a:endParaRPr sz="2325" b="1" dirty="0">
              <a:solidFill>
                <a:srgbClr val="FFFF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9B0890-A926-4A34-BB56-DC6AEF1D7E81}"/>
              </a:ext>
            </a:extLst>
          </p:cNvPr>
          <p:cNvSpPr>
            <a:spLocks noGrp="1"/>
          </p:cNvSpPr>
          <p:nvPr/>
        </p:nvSpPr>
        <p:spPr>
          <a:xfrm>
            <a:off x="5238750" y="493395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CEAF5"/>
                </a:solidFill>
              </a:defRPr>
            </a:pPr>
            <a:r>
              <a:rPr sz="1725" b="0">
                <a:solidFill>
                  <a:srgbClr val="DCEAF5"/>
                </a:solidFill>
              </a:rPr>
              <a:t>脑科学 · 生物医学工程 · 人工智能 · 神经调控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AFE892-B999-4155-9CC4-CF322BACD919}"/>
              </a:ext>
            </a:extLst>
          </p:cNvPr>
          <p:cNvSpPr>
            <a:spLocks noGrp="1"/>
          </p:cNvSpPr>
          <p:nvPr/>
        </p:nvSpPr>
        <p:spPr>
          <a:xfrm>
            <a:off x="0" y="6438900"/>
            <a:ext cx="10287000" cy="552450"/>
          </a:xfrm>
          <a:prstGeom prst="rect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16E982-EA05-4B79-8797-79781CC1389F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052A55"/>
                </a:solidFill>
              </a:defRPr>
            </a:pPr>
            <a:r>
              <a:rPr sz="2025" b="1">
                <a:solidFill>
                  <a:srgbClr val="052A55"/>
                </a:solidFill>
              </a:rPr>
              <a:t>一、  博士后研究方向｜计划招聘不超过 3 名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452EDFA-982E-4F0C-8E98-0E336F37CB41}"/>
              </a:ext>
            </a:extLst>
          </p:cNvPr>
          <p:cNvSpPr>
            <a:spLocks noGrp="1"/>
          </p:cNvSpPr>
          <p:nvPr/>
        </p:nvSpPr>
        <p:spPr>
          <a:xfrm>
            <a:off x="590550" y="7305675"/>
            <a:ext cx="133350" cy="133350"/>
          </a:xfrm>
          <a:prstGeom prst="ellipse">
            <a:avLst/>
          </a:prstGeom>
          <a:solidFill>
            <a:srgbClr val="4BC1D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280FDE-A33B-4F9C-84DF-607A6F2F0B33}"/>
              </a:ext>
            </a:extLst>
          </p:cNvPr>
          <p:cNvSpPr>
            <a:spLocks noGrp="1"/>
          </p:cNvSpPr>
          <p:nvPr/>
        </p:nvSpPr>
        <p:spPr>
          <a:xfrm>
            <a:off x="847725" y="7239000"/>
            <a:ext cx="8848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2DEB5"/>
                </a:solidFill>
              </a:defRPr>
            </a:pPr>
            <a:r>
              <a:rPr sz="2025" b="1" dirty="0" err="1">
                <a:solidFill>
                  <a:srgbClr val="F2DEB5"/>
                </a:solidFill>
              </a:rPr>
              <a:t>医学影像与人工智能</a:t>
            </a:r>
            <a:r>
              <a:rPr lang="zh-CN" altLang="en-US" sz="2025" b="1" dirty="0">
                <a:solidFill>
                  <a:srgbClr val="F2DEB5"/>
                </a:solidFill>
              </a:rPr>
              <a:t>数据挖掘</a:t>
            </a:r>
            <a:endParaRPr sz="2025" b="1" dirty="0">
              <a:solidFill>
                <a:srgbClr val="F2DEB5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1D86A8-C3B1-489C-A90E-B1B279B43187}"/>
              </a:ext>
            </a:extLst>
          </p:cNvPr>
          <p:cNvSpPr>
            <a:spLocks noGrp="1"/>
          </p:cNvSpPr>
          <p:nvPr/>
        </p:nvSpPr>
        <p:spPr>
          <a:xfrm>
            <a:off x="847725" y="7610475"/>
            <a:ext cx="88487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</a:defRPr>
            </a:pPr>
            <a:r>
              <a:rPr sz="2000" b="0" dirty="0" err="1">
                <a:solidFill>
                  <a:srgbClr val="FFFFFF"/>
                </a:solidFill>
              </a:rPr>
              <a:t>多模态</a:t>
            </a:r>
            <a:r>
              <a:rPr sz="2000" b="0" dirty="0">
                <a:solidFill>
                  <a:srgbClr val="FFFFFF"/>
                </a:solidFill>
              </a:rPr>
              <a:t> </a:t>
            </a:r>
            <a:r>
              <a:rPr lang="zh-CN" altLang="en-US" sz="2000" b="0" dirty="0">
                <a:solidFill>
                  <a:srgbClr val="FFFFFF"/>
                </a:solidFill>
              </a:rPr>
              <a:t>医学图像</a:t>
            </a:r>
            <a:r>
              <a:rPr sz="2000" b="0" dirty="0">
                <a:solidFill>
                  <a:srgbClr val="FFFFFF"/>
                </a:solidFill>
              </a:rPr>
              <a:t>MRI、PET、EEG</a:t>
            </a:r>
            <a:r>
              <a:rPr lang="zh-CN" altLang="en-US" sz="2000" b="0" dirty="0">
                <a:solidFill>
                  <a:srgbClr val="FFFFFF"/>
                </a:solidFill>
              </a:rPr>
              <a:t>与</a:t>
            </a:r>
            <a:r>
              <a:rPr sz="2000" b="0" dirty="0" err="1">
                <a:solidFill>
                  <a:srgbClr val="FFFFFF"/>
                </a:solidFill>
              </a:rPr>
              <a:t>深度学习、多模态融合、医学大模型与影像生物标志物</a:t>
            </a:r>
            <a:r>
              <a:rPr lang="zh-CN" altLang="en-US" sz="2000" dirty="0">
                <a:solidFill>
                  <a:srgbClr val="FFFFFF"/>
                </a:solidFill>
              </a:rPr>
              <a:t>的融合分析</a:t>
            </a:r>
            <a:endParaRPr sz="2000" b="0" dirty="0">
              <a:solidFill>
                <a:srgbClr val="FFFFFF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5D9D49A-CD1C-4748-8D32-1F50281AEB67}"/>
              </a:ext>
            </a:extLst>
          </p:cNvPr>
          <p:cNvSpPr>
            <a:spLocks noGrp="1"/>
          </p:cNvSpPr>
          <p:nvPr/>
        </p:nvSpPr>
        <p:spPr>
          <a:xfrm>
            <a:off x="590550" y="8543925"/>
            <a:ext cx="133350" cy="133350"/>
          </a:xfrm>
          <a:prstGeom prst="ellipse">
            <a:avLst/>
          </a:prstGeom>
          <a:solidFill>
            <a:srgbClr val="4BC1D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69AE5F-E924-4462-942B-83A16DC861B9}"/>
              </a:ext>
            </a:extLst>
          </p:cNvPr>
          <p:cNvSpPr>
            <a:spLocks noGrp="1"/>
          </p:cNvSpPr>
          <p:nvPr/>
        </p:nvSpPr>
        <p:spPr>
          <a:xfrm>
            <a:off x="847725" y="8477250"/>
            <a:ext cx="8848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2DEB5"/>
                </a:solidFill>
              </a:defRPr>
            </a:pPr>
            <a:r>
              <a:rPr sz="2025" b="1">
                <a:solidFill>
                  <a:srgbClr val="F2DEB5"/>
                </a:solidFill>
              </a:rPr>
              <a:t>重大脑疾病与脑—器交互机制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73FCA8-74A1-4564-9348-07C1C8577236}"/>
              </a:ext>
            </a:extLst>
          </p:cNvPr>
          <p:cNvSpPr>
            <a:spLocks noGrp="1"/>
          </p:cNvSpPr>
          <p:nvPr/>
        </p:nvSpPr>
        <p:spPr>
          <a:xfrm>
            <a:off x="847725" y="8848725"/>
            <a:ext cx="88487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</a:defRPr>
            </a:pPr>
            <a:r>
              <a:rPr sz="2000" b="0" dirty="0" err="1">
                <a:solidFill>
                  <a:srgbClr val="FFFFFF"/>
                </a:solidFill>
              </a:rPr>
              <a:t>聚焦创伤性脑损伤</a:t>
            </a:r>
            <a:r>
              <a:rPr lang="zh-CN" altLang="en-US" sz="2000" b="0" dirty="0">
                <a:solidFill>
                  <a:srgbClr val="FFFFFF"/>
                </a:solidFill>
              </a:rPr>
              <a:t>、神经退行性疾病、精神类疾病</a:t>
            </a:r>
            <a:r>
              <a:rPr sz="2000" b="0" dirty="0" err="1">
                <a:solidFill>
                  <a:srgbClr val="FFFFFF"/>
                </a:solidFill>
              </a:rPr>
              <a:t>等重大脑疾病，解析脑结构与功能重塑、脑网络异常及脑</a:t>
            </a:r>
            <a:r>
              <a:rPr sz="2000" b="0" dirty="0">
                <a:solidFill>
                  <a:srgbClr val="FFFFFF"/>
                </a:solidFill>
              </a:rPr>
              <a:t>—</a:t>
            </a:r>
            <a:r>
              <a:rPr sz="2000" b="0" dirty="0" err="1">
                <a:solidFill>
                  <a:srgbClr val="FFFFFF"/>
                </a:solidFill>
              </a:rPr>
              <a:t>器交互机制</a:t>
            </a:r>
            <a:endParaRPr sz="2000" b="0" dirty="0">
              <a:solidFill>
                <a:srgbClr val="FFFFFF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7E3DC7A-AFA5-4124-8908-909ABE46EBD8}"/>
              </a:ext>
            </a:extLst>
          </p:cNvPr>
          <p:cNvSpPr>
            <a:spLocks noGrp="1"/>
          </p:cNvSpPr>
          <p:nvPr/>
        </p:nvSpPr>
        <p:spPr>
          <a:xfrm>
            <a:off x="590550" y="9782175"/>
            <a:ext cx="133350" cy="133350"/>
          </a:xfrm>
          <a:prstGeom prst="ellipse">
            <a:avLst/>
          </a:prstGeom>
          <a:solidFill>
            <a:srgbClr val="4BC1D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8C5952-8B00-4843-BECC-029988B889CD}"/>
              </a:ext>
            </a:extLst>
          </p:cNvPr>
          <p:cNvSpPr>
            <a:spLocks noGrp="1"/>
          </p:cNvSpPr>
          <p:nvPr/>
        </p:nvSpPr>
        <p:spPr>
          <a:xfrm>
            <a:off x="847725" y="9715500"/>
            <a:ext cx="8848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2DEB5"/>
                </a:solidFill>
              </a:defRPr>
            </a:pPr>
            <a:r>
              <a:rPr sz="2025" b="1">
                <a:solidFill>
                  <a:srgbClr val="F2DEB5"/>
                </a:solidFill>
              </a:rPr>
              <a:t>精准神经调控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A93169-38DE-4326-9B46-CAAE42023299}"/>
              </a:ext>
            </a:extLst>
          </p:cNvPr>
          <p:cNvSpPr>
            <a:spLocks noGrp="1"/>
          </p:cNvSpPr>
          <p:nvPr/>
        </p:nvSpPr>
        <p:spPr>
          <a:xfrm>
            <a:off x="847725" y="10086975"/>
            <a:ext cx="88487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</a:defRPr>
            </a:pPr>
            <a:r>
              <a:rPr lang="zh-CN" altLang="en-US" sz="2000" b="0" dirty="0">
                <a:solidFill>
                  <a:srgbClr val="FFFFFF"/>
                </a:solidFill>
              </a:rPr>
              <a:t>通过脑机接口、神经调控技术</a:t>
            </a:r>
            <a:r>
              <a:rPr sz="2000" b="0" dirty="0">
                <a:solidFill>
                  <a:srgbClr val="FFFFFF"/>
                </a:solidFill>
              </a:rPr>
              <a:t>，</a:t>
            </a:r>
            <a:r>
              <a:rPr sz="2000" b="0" dirty="0" err="1">
                <a:solidFill>
                  <a:srgbClr val="FFFFFF"/>
                </a:solidFill>
              </a:rPr>
              <a:t>开展个体化靶点识别与</a:t>
            </a:r>
            <a:r>
              <a:rPr lang="zh-CN" altLang="en-US" sz="2000" b="0" dirty="0">
                <a:solidFill>
                  <a:srgbClr val="FFFFFF"/>
                </a:solidFill>
              </a:rPr>
              <a:t>精准调控</a:t>
            </a:r>
            <a:endParaRPr sz="2000" b="0" dirty="0">
              <a:solidFill>
                <a:srgbClr val="FFFFFF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A4885A-DD87-4A5F-A83C-65CCE5BB9A13}"/>
              </a:ext>
            </a:extLst>
          </p:cNvPr>
          <p:cNvSpPr>
            <a:spLocks noGrp="1"/>
          </p:cNvSpPr>
          <p:nvPr/>
        </p:nvSpPr>
        <p:spPr>
          <a:xfrm>
            <a:off x="0" y="11144250"/>
            <a:ext cx="10287000" cy="552450"/>
          </a:xfrm>
          <a:prstGeom prst="rect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6B6EB6-BCAC-4FF2-8369-BB5FD93D89AF}"/>
              </a:ext>
            </a:extLst>
          </p:cNvPr>
          <p:cNvSpPr>
            <a:spLocks noGrp="1"/>
          </p:cNvSpPr>
          <p:nvPr/>
        </p:nvSpPr>
        <p:spPr>
          <a:xfrm>
            <a:off x="666750" y="1122045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052A55"/>
                </a:solidFill>
              </a:defRPr>
            </a:pPr>
            <a:r>
              <a:rPr sz="2025" b="1">
                <a:solidFill>
                  <a:srgbClr val="052A55"/>
                </a:solidFill>
              </a:rPr>
              <a:t>二、  我们期待这样的你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744AC1-FF84-400E-8382-4A5235B24333}"/>
              </a:ext>
            </a:extLst>
          </p:cNvPr>
          <p:cNvSpPr>
            <a:spLocks noGrp="1"/>
          </p:cNvSpPr>
          <p:nvPr/>
        </p:nvSpPr>
        <p:spPr>
          <a:xfrm>
            <a:off x="609600" y="11963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52A55"/>
                </a:solidFill>
              </a:defRPr>
            </a:pPr>
            <a:r>
              <a:rPr sz="1575" b="1">
                <a:solidFill>
                  <a:srgbClr val="052A55"/>
                </a:solidFill>
              </a:rPr>
              <a:t>1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471E46E-4FFF-4098-9FD3-58D431CA72DE}"/>
              </a:ext>
            </a:extLst>
          </p:cNvPr>
          <p:cNvSpPr>
            <a:spLocks noGrp="1"/>
          </p:cNvSpPr>
          <p:nvPr/>
        </p:nvSpPr>
        <p:spPr>
          <a:xfrm>
            <a:off x="542925" y="11896725"/>
            <a:ext cx="457200" cy="457200"/>
          </a:xfrm>
          <a:prstGeom prst="ellipse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8AD44BE-D388-4DB2-8289-72B1087C57F3}"/>
              </a:ext>
            </a:extLst>
          </p:cNvPr>
          <p:cNvSpPr>
            <a:spLocks noGrp="1"/>
          </p:cNvSpPr>
          <p:nvPr/>
        </p:nvSpPr>
        <p:spPr>
          <a:xfrm>
            <a:off x="542925" y="119634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52A55"/>
                </a:solidFill>
              </a:defRPr>
            </a:pPr>
            <a:r>
              <a:rPr sz="1500" b="1">
                <a:solidFill>
                  <a:srgbClr val="052A55"/>
                </a:solidFill>
              </a:rPr>
              <a:t>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DD064A-F0E9-417B-B613-C90532D21117}"/>
              </a:ext>
            </a:extLst>
          </p:cNvPr>
          <p:cNvSpPr>
            <a:spLocks noGrp="1"/>
          </p:cNvSpPr>
          <p:nvPr/>
        </p:nvSpPr>
        <p:spPr>
          <a:xfrm>
            <a:off x="1162050" y="11858625"/>
            <a:ext cx="882319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 dirty="0" err="1">
                <a:solidFill>
                  <a:srgbClr val="FFFFFF"/>
                </a:solidFill>
              </a:rPr>
              <a:t>已获博士学位，原则上获学位不超过</a:t>
            </a:r>
            <a:r>
              <a:rPr sz="1725" b="0" dirty="0">
                <a:solidFill>
                  <a:srgbClr val="FFFFFF"/>
                </a:solidFill>
              </a:rPr>
              <a:t> 3 </a:t>
            </a:r>
            <a:r>
              <a:rPr sz="1725" b="0" dirty="0" err="1">
                <a:solidFill>
                  <a:srgbClr val="FFFFFF"/>
                </a:solidFill>
              </a:rPr>
              <a:t>年，年龄一般不超过</a:t>
            </a:r>
            <a:r>
              <a:rPr sz="1725" b="0" dirty="0">
                <a:solidFill>
                  <a:srgbClr val="FFFFFF"/>
                </a:solidFill>
              </a:rPr>
              <a:t> 3</a:t>
            </a:r>
            <a:r>
              <a:rPr lang="en-US" altLang="zh-CN" sz="1725" b="0" dirty="0">
                <a:solidFill>
                  <a:srgbClr val="FFFFFF"/>
                </a:solidFill>
              </a:rPr>
              <a:t>5</a:t>
            </a:r>
            <a:r>
              <a:rPr sz="1725" b="0" dirty="0">
                <a:solidFill>
                  <a:srgbClr val="FFFFFF"/>
                </a:solidFill>
              </a:rPr>
              <a:t> </a:t>
            </a:r>
            <a:r>
              <a:rPr sz="1725" b="0" dirty="0" err="1">
                <a:solidFill>
                  <a:srgbClr val="FFFFFF"/>
                </a:solidFill>
              </a:rPr>
              <a:t>周岁</a:t>
            </a:r>
            <a:r>
              <a:rPr lang="zh-CN" altLang="en-US" sz="1725" b="0" dirty="0">
                <a:solidFill>
                  <a:srgbClr val="FFFFFF"/>
                </a:solidFill>
              </a:rPr>
              <a:t>；优秀者不受上述限制</a:t>
            </a:r>
            <a:endParaRPr sz="1725" b="0" dirty="0">
              <a:solidFill>
                <a:srgbClr val="FFFFFF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BC2A666-C95D-4DC2-89AD-0949D6343C54}"/>
              </a:ext>
            </a:extLst>
          </p:cNvPr>
          <p:cNvSpPr>
            <a:spLocks noGrp="1"/>
          </p:cNvSpPr>
          <p:nvPr/>
        </p:nvSpPr>
        <p:spPr>
          <a:xfrm>
            <a:off x="609600" y="126301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52A55"/>
                </a:solidFill>
              </a:defRPr>
            </a:pPr>
            <a:r>
              <a:rPr sz="1575" b="1">
                <a:solidFill>
                  <a:srgbClr val="052A55"/>
                </a:solidFill>
              </a:rPr>
              <a:t>2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F5FEA59-016E-446B-B40B-0D4A1741646A}"/>
              </a:ext>
            </a:extLst>
          </p:cNvPr>
          <p:cNvSpPr>
            <a:spLocks noGrp="1"/>
          </p:cNvSpPr>
          <p:nvPr/>
        </p:nvSpPr>
        <p:spPr>
          <a:xfrm>
            <a:off x="542925" y="12563475"/>
            <a:ext cx="457200" cy="457200"/>
          </a:xfrm>
          <a:prstGeom prst="ellipse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659E141-2ACF-4EB0-9424-D2DD321CAD5C}"/>
              </a:ext>
            </a:extLst>
          </p:cNvPr>
          <p:cNvSpPr>
            <a:spLocks noGrp="1"/>
          </p:cNvSpPr>
          <p:nvPr/>
        </p:nvSpPr>
        <p:spPr>
          <a:xfrm>
            <a:off x="542925" y="126301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52A55"/>
                </a:solidFill>
              </a:defRPr>
            </a:pPr>
            <a:r>
              <a:rPr sz="1500" b="1">
                <a:solidFill>
                  <a:srgbClr val="052A55"/>
                </a:solidFill>
              </a:rPr>
              <a:t>2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D59A10-CEB5-4626-8726-BA43F92CDCC1}"/>
              </a:ext>
            </a:extLst>
          </p:cNvPr>
          <p:cNvSpPr>
            <a:spLocks noGrp="1"/>
          </p:cNvSpPr>
          <p:nvPr/>
        </p:nvSpPr>
        <p:spPr>
          <a:xfrm>
            <a:off x="1162050" y="12525375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 dirty="0" err="1">
                <a:solidFill>
                  <a:srgbClr val="FFFFFF"/>
                </a:solidFill>
              </a:rPr>
              <a:t>人工智能、影像医学与核医学、生物医学工程、计算机、神经工程等相关背景</a:t>
            </a:r>
            <a:endParaRPr sz="1725" b="0" dirty="0">
              <a:solidFill>
                <a:srgbClr val="FFFFFF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785F40-281A-44CA-872B-B60F8DBC396A}"/>
              </a:ext>
            </a:extLst>
          </p:cNvPr>
          <p:cNvSpPr>
            <a:spLocks noGrp="1"/>
          </p:cNvSpPr>
          <p:nvPr/>
        </p:nvSpPr>
        <p:spPr>
          <a:xfrm>
            <a:off x="609600" y="132969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52A55"/>
                </a:solidFill>
              </a:defRPr>
            </a:pPr>
            <a:r>
              <a:rPr sz="1575" b="1">
                <a:solidFill>
                  <a:srgbClr val="052A55"/>
                </a:solidFill>
              </a:rPr>
              <a:t>3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039AEB8-5840-4509-AB05-A1C3377BE764}"/>
              </a:ext>
            </a:extLst>
          </p:cNvPr>
          <p:cNvSpPr>
            <a:spLocks noGrp="1"/>
          </p:cNvSpPr>
          <p:nvPr/>
        </p:nvSpPr>
        <p:spPr>
          <a:xfrm>
            <a:off x="542925" y="13230225"/>
            <a:ext cx="457200" cy="457200"/>
          </a:xfrm>
          <a:prstGeom prst="ellipse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86CD72-36B8-443E-A4AB-0CD720D76374}"/>
              </a:ext>
            </a:extLst>
          </p:cNvPr>
          <p:cNvSpPr>
            <a:spLocks noGrp="1"/>
          </p:cNvSpPr>
          <p:nvPr/>
        </p:nvSpPr>
        <p:spPr>
          <a:xfrm>
            <a:off x="542925" y="13296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52A55"/>
                </a:solidFill>
              </a:defRPr>
            </a:pPr>
            <a:r>
              <a:rPr sz="1500" b="1">
                <a:solidFill>
                  <a:srgbClr val="052A55"/>
                </a:solidFill>
              </a:rPr>
              <a:t>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A1F8106-C68D-4491-ACDB-79BB89AFDAF2}"/>
              </a:ext>
            </a:extLst>
          </p:cNvPr>
          <p:cNvSpPr>
            <a:spLocks noGrp="1"/>
          </p:cNvSpPr>
          <p:nvPr/>
        </p:nvSpPr>
        <p:spPr>
          <a:xfrm>
            <a:off x="1162050" y="13192125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 dirty="0" err="1">
                <a:solidFill>
                  <a:srgbClr val="FFFFFF"/>
                </a:solidFill>
              </a:rPr>
              <a:t>具备科研创新潜力、英文阅读与论文写作能力，可相对独立开展研究</a:t>
            </a:r>
            <a:endParaRPr sz="1725" b="0" dirty="0">
              <a:solidFill>
                <a:srgbClr val="FFFFFF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3037612-98E6-4702-A7E8-F8413F0E9555}"/>
              </a:ext>
            </a:extLst>
          </p:cNvPr>
          <p:cNvSpPr>
            <a:spLocks noGrp="1"/>
          </p:cNvSpPr>
          <p:nvPr/>
        </p:nvSpPr>
        <p:spPr>
          <a:xfrm>
            <a:off x="609600" y="139636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52A55"/>
                </a:solidFill>
              </a:defRPr>
            </a:pPr>
            <a:r>
              <a:rPr sz="1575" b="1">
                <a:solidFill>
                  <a:srgbClr val="052A55"/>
                </a:solidFill>
              </a:rPr>
              <a:t>4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1580223-1BC4-42A3-A7C9-AE6B43576A9D}"/>
              </a:ext>
            </a:extLst>
          </p:cNvPr>
          <p:cNvSpPr>
            <a:spLocks noGrp="1"/>
          </p:cNvSpPr>
          <p:nvPr/>
        </p:nvSpPr>
        <p:spPr>
          <a:xfrm>
            <a:off x="542925" y="13896975"/>
            <a:ext cx="457200" cy="457200"/>
          </a:xfrm>
          <a:prstGeom prst="ellipse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CC0538-ABF9-4A93-A7D6-71A34AA1ECD3}"/>
              </a:ext>
            </a:extLst>
          </p:cNvPr>
          <p:cNvSpPr>
            <a:spLocks noGrp="1"/>
          </p:cNvSpPr>
          <p:nvPr/>
        </p:nvSpPr>
        <p:spPr>
          <a:xfrm>
            <a:off x="542925" y="139636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52A55"/>
                </a:solidFill>
              </a:defRPr>
            </a:pPr>
            <a:r>
              <a:rPr sz="1500" b="1">
                <a:solidFill>
                  <a:srgbClr val="052A55"/>
                </a:solidFill>
              </a:rPr>
              <a:t>4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3619D1-D369-47E0-A3CC-14203D3497B0}"/>
              </a:ext>
            </a:extLst>
          </p:cNvPr>
          <p:cNvSpPr>
            <a:spLocks noGrp="1"/>
          </p:cNvSpPr>
          <p:nvPr/>
        </p:nvSpPr>
        <p:spPr>
          <a:xfrm>
            <a:off x="1162050" y="13858875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恪守科研诚信，具有团队协作精神和进取意识。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8427CC-253F-4271-A8DA-FC1788354FF2}"/>
              </a:ext>
            </a:extLst>
          </p:cNvPr>
          <p:cNvSpPr>
            <a:spLocks noGrp="1"/>
          </p:cNvSpPr>
          <p:nvPr/>
        </p:nvSpPr>
        <p:spPr>
          <a:xfrm>
            <a:off x="0" y="14706600"/>
            <a:ext cx="10287000" cy="552450"/>
          </a:xfrm>
          <a:prstGeom prst="rect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6277175-7DBB-47C8-BE94-514968C10C30}"/>
              </a:ext>
            </a:extLst>
          </p:cNvPr>
          <p:cNvSpPr>
            <a:spLocks noGrp="1"/>
          </p:cNvSpPr>
          <p:nvPr/>
        </p:nvSpPr>
        <p:spPr>
          <a:xfrm>
            <a:off x="666750" y="1478280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052A55"/>
                </a:solidFill>
              </a:defRPr>
            </a:pPr>
            <a:r>
              <a:rPr sz="2025" b="1">
                <a:solidFill>
                  <a:srgbClr val="052A55"/>
                </a:solidFill>
              </a:rPr>
              <a:t>三、  平台支持与职业发展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1ACE31F-950A-4394-B461-C9512921D841}"/>
              </a:ext>
            </a:extLst>
          </p:cNvPr>
          <p:cNvSpPr>
            <a:spLocks noGrp="1"/>
          </p:cNvSpPr>
          <p:nvPr/>
        </p:nvSpPr>
        <p:spPr>
          <a:xfrm>
            <a:off x="590550" y="15468600"/>
            <a:ext cx="9105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双平台交叉支持  ·  协助建立独立方向  ·  支持国自然及博士后基金申请</a:t>
            </a:r>
          </a:p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打通“临床问题—多模态数据—机制解析—高水平论文—国家项目—青年人才”发展路径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87D1992-D29B-4038-AD4A-44085AD604FE}"/>
              </a:ext>
            </a:extLst>
          </p:cNvPr>
          <p:cNvSpPr>
            <a:spLocks noGrp="1"/>
          </p:cNvSpPr>
          <p:nvPr/>
        </p:nvSpPr>
        <p:spPr>
          <a:xfrm>
            <a:off x="438150" y="16668750"/>
            <a:ext cx="9410700" cy="1104900"/>
          </a:xfrm>
          <a:prstGeom prst="roundRect">
            <a:avLst>
              <a:gd name="adj" fmla="val 10345"/>
            </a:avLst>
          </a:prstGeom>
          <a:solidFill>
            <a:srgbClr val="0B467E"/>
          </a:solidFill>
          <a:ln w="19050">
            <a:solidFill>
              <a:srgbClr val="4BC1D8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17E8D6A-61A2-47E5-86E5-5C3ECBEA6A41}"/>
              </a:ext>
            </a:extLst>
          </p:cNvPr>
          <p:cNvSpPr>
            <a:spLocks noGrp="1"/>
          </p:cNvSpPr>
          <p:nvPr/>
        </p:nvSpPr>
        <p:spPr>
          <a:xfrm>
            <a:off x="685800" y="16859250"/>
            <a:ext cx="891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申请材料：个人简历｜研究工作简介｜代表性成果｜博士后研究计划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553A0A1-66F1-43A6-8F68-527CFD9D6410}"/>
              </a:ext>
            </a:extLst>
          </p:cNvPr>
          <p:cNvSpPr>
            <a:spLocks noGrp="1"/>
          </p:cNvSpPr>
          <p:nvPr/>
        </p:nvSpPr>
        <p:spPr>
          <a:xfrm>
            <a:off x="685800" y="17278350"/>
            <a:ext cx="891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2DEB5"/>
                </a:solidFill>
              </a:defRPr>
            </a:pPr>
            <a:r>
              <a:rPr sz="1500" b="1">
                <a:solidFill>
                  <a:srgbClr val="F2DEB5"/>
                </a:solidFill>
              </a:rPr>
              <a:t>wangzhuonan@xjtu.edu.cn   邮件主题：博士后申请 + 姓名 + 毕业单位 + 研究方向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A4D3316-C0E1-4967-8AFC-50DF5BAE53CE}"/>
              </a:ext>
            </a:extLst>
          </p:cNvPr>
          <p:cNvSpPr>
            <a:spLocks noGrp="1"/>
          </p:cNvSpPr>
          <p:nvPr/>
        </p:nvSpPr>
        <p:spPr>
          <a:xfrm>
            <a:off x="571500" y="1790700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AFC9DE"/>
                </a:solidFill>
              </a:defRPr>
            </a:pPr>
            <a:r>
              <a:rPr sz="1275" b="0">
                <a:solidFill>
                  <a:srgbClr val="AFC9DE"/>
                </a:solidFill>
              </a:rPr>
              <a:t>西安交通大学第一附属医院 · 西安交通大学生命科学与技术学院</a:t>
            </a:r>
          </a:p>
        </p:txBody>
      </p:sp>
    </p:spTree>
    <p:extLst>
      <p:ext uri="{BB962C8B-B14F-4D97-AF65-F5344CB8AC3E}">
        <p14:creationId xmlns:p14="http://schemas.microsoft.com/office/powerpoint/2010/main" val="43263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4AD044E6-5F96-45FE-8115-B17E5AC07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447800"/>
          </a:xfrm>
          <a:prstGeom prst="rect">
            <a:avLst/>
          </a:prstGeom>
          <a:solidFill>
            <a:srgbClr val="07386C"/>
          </a:solidFill>
          <a:ln w="0">
            <a:noFill/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9147655-70A9-4D00-85C7-D36C3B4F38AE}"/>
              </a:ext>
            </a:extLst>
          </p:cNvPr>
          <p:cNvSpPr>
            <a:spLocks noGrp="1"/>
          </p:cNvSpPr>
          <p:nvPr/>
        </p:nvSpPr>
        <p:spPr>
          <a:xfrm>
            <a:off x="400050" y="295275"/>
            <a:ext cx="666750" cy="666750"/>
          </a:xfrm>
          <a:prstGeom prst="ellips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94064F-2513-4BEF-A452-098B20E0BBC3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XJTU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FD4E9A-820A-49E7-92E3-988B195C95C1}"/>
              </a:ext>
            </a:extLst>
          </p:cNvPr>
          <p:cNvSpPr>
            <a:spLocks noGrp="1"/>
          </p:cNvSpPr>
          <p:nvPr/>
        </p:nvSpPr>
        <p:spPr>
          <a:xfrm>
            <a:off x="8734425" y="419100"/>
            <a:ext cx="1095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 / 导师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A8569F-9D94-4D48-8321-A6DAA8646406}"/>
              </a:ext>
            </a:extLst>
          </p:cNvPr>
          <p:cNvSpPr>
            <a:spLocks noGrp="1"/>
          </p:cNvSpPr>
          <p:nvPr/>
        </p:nvSpPr>
        <p:spPr>
          <a:xfrm>
            <a:off x="0" y="1390650"/>
            <a:ext cx="10287000" cy="57150"/>
          </a:xfrm>
          <a:prstGeom prst="rect">
            <a:avLst/>
          </a:prstGeom>
          <a:solidFill>
            <a:srgbClr val="D8AD63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E9C872-E823-4A57-9E09-72FBF3797B48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双导师联合培养：临床需求牵引 × 工程技术赋能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C583D6-E2B4-4E68-9447-48EF1981B9F3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0">
                <a:solidFill>
                  <a:srgbClr val="F2DEB5"/>
                </a:solidFill>
              </a:defRPr>
            </a:pPr>
            <a:r>
              <a:rPr sz="1725" b="0">
                <a:solidFill>
                  <a:srgbClr val="F2DEB5"/>
                </a:solidFill>
              </a:rPr>
              <a:t>围绕重大脑疾病，贯通机制解析、影像标志物与精准干预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B9A9E94-8D5A-4DDE-8684-E501ED43CFFD}"/>
              </a:ext>
            </a:extLst>
          </p:cNvPr>
          <p:cNvSpPr>
            <a:spLocks noGrp="1"/>
          </p:cNvSpPr>
          <p:nvPr/>
        </p:nvSpPr>
        <p:spPr>
          <a:xfrm>
            <a:off x="419100" y="3105150"/>
            <a:ext cx="9448800" cy="5600700"/>
          </a:xfrm>
          <a:prstGeom prst="roundRect">
            <a:avLst>
              <a:gd name="adj" fmla="val 2041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47C91C-87EC-4C8B-B18F-213F8C05BD05}"/>
              </a:ext>
            </a:extLst>
          </p:cNvPr>
          <p:cNvSpPr>
            <a:spLocks noGrp="1"/>
          </p:cNvSpPr>
          <p:nvPr/>
        </p:nvSpPr>
        <p:spPr>
          <a:xfrm>
            <a:off x="2876550" y="34480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2DEB5"/>
                </a:solidFill>
              </a:defRPr>
            </a:pPr>
            <a:r>
              <a:rPr sz="2550" b="1">
                <a:solidFill>
                  <a:srgbClr val="F2DEB5"/>
                </a:solidFill>
              </a:rPr>
              <a:t>王卓楠  副研究员 · 博士生导师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969DD5-D9F6-4CC1-8F5B-C09776141769}"/>
              </a:ext>
            </a:extLst>
          </p:cNvPr>
          <p:cNvSpPr>
            <a:spLocks noGrp="1"/>
          </p:cNvSpPr>
          <p:nvPr/>
        </p:nvSpPr>
        <p:spPr>
          <a:xfrm>
            <a:off x="2876550" y="3990975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西安交通大学第一附属医院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7A1047E-3209-4404-9603-4524DD227315}"/>
              </a:ext>
            </a:extLst>
          </p:cNvPr>
          <p:cNvSpPr>
            <a:spLocks noGrp="1"/>
          </p:cNvSpPr>
          <p:nvPr/>
        </p:nvSpPr>
        <p:spPr>
          <a:xfrm>
            <a:off x="2876550" y="4514850"/>
            <a:ext cx="3124200" cy="495300"/>
          </a:xfrm>
          <a:prstGeom prst="roundRect">
            <a:avLst>
              <a:gd name="adj" fmla="val 15385"/>
            </a:avLst>
          </a:prstGeom>
          <a:solidFill>
            <a:srgbClr val="0B467E"/>
          </a:solidFill>
          <a:ln w="9525">
            <a:solidFill>
              <a:srgbClr val="D8AD6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744DDB-1D11-4B28-A7CD-F0A7853E1D95}"/>
              </a:ext>
            </a:extLst>
          </p:cNvPr>
          <p:cNvSpPr>
            <a:spLocks noGrp="1"/>
          </p:cNvSpPr>
          <p:nvPr/>
        </p:nvSpPr>
        <p:spPr>
          <a:xfrm>
            <a:off x="2952750" y="4610100"/>
            <a:ext cx="2971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国家重点研发计划首席科学家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84040D7-A58E-4CB4-9507-8F353994C20B}"/>
              </a:ext>
            </a:extLst>
          </p:cNvPr>
          <p:cNvSpPr>
            <a:spLocks noGrp="1"/>
          </p:cNvSpPr>
          <p:nvPr/>
        </p:nvSpPr>
        <p:spPr>
          <a:xfrm>
            <a:off x="6172200" y="4514850"/>
            <a:ext cx="2038350" cy="495300"/>
          </a:xfrm>
          <a:prstGeom prst="roundRect">
            <a:avLst>
              <a:gd name="adj" fmla="val 15385"/>
            </a:avLst>
          </a:prstGeom>
          <a:solidFill>
            <a:srgbClr val="0B467E"/>
          </a:solidFill>
          <a:ln w="9525">
            <a:solidFill>
              <a:srgbClr val="D8AD6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1ADDD1-3F2D-4D40-AD2C-14F1117C9DF9}"/>
              </a:ext>
            </a:extLst>
          </p:cNvPr>
          <p:cNvSpPr>
            <a:spLocks noGrp="1"/>
          </p:cNvSpPr>
          <p:nvPr/>
        </p:nvSpPr>
        <p:spPr>
          <a:xfrm>
            <a:off x="6248400" y="46101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陕西省“优青”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2318B9-EA63-4FE2-9CAE-6C80541FF4DB}"/>
              </a:ext>
            </a:extLst>
          </p:cNvPr>
          <p:cNvSpPr>
            <a:spLocks noGrp="1"/>
          </p:cNvSpPr>
          <p:nvPr/>
        </p:nvSpPr>
        <p:spPr>
          <a:xfrm>
            <a:off x="2876550" y="5219700"/>
            <a:ext cx="64198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DCEAF5"/>
                </a:solidFill>
              </a:defRPr>
            </a:pPr>
            <a:r>
              <a:rPr sz="1800" b="0">
                <a:solidFill>
                  <a:srgbClr val="DCEAF5"/>
                </a:solidFill>
              </a:rPr>
              <a:t>长期从事创伤性脑损伤及重大脑疾病的多模态定量影像、脑网络机制、人工智能分析与精准神经调控研究，重点关注影像表型与认知功能、疾病转归及个体化干预之间的关系。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795791-AB38-464F-9BB9-C268AC25FDCB}"/>
              </a:ext>
            </a:extLst>
          </p:cNvPr>
          <p:cNvSpPr>
            <a:spLocks noGrp="1"/>
          </p:cNvSpPr>
          <p:nvPr/>
        </p:nvSpPr>
        <p:spPr>
          <a:xfrm>
            <a:off x="742950" y="6572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2DEB5"/>
                </a:solidFill>
              </a:defRPr>
            </a:pPr>
            <a:r>
              <a:rPr sz="1725" b="1">
                <a:solidFill>
                  <a:srgbClr val="F2DEB5"/>
                </a:solidFill>
              </a:rPr>
              <a:t>研究关键词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B578B5-9A6E-4A1F-A348-A6D0726DDD61}"/>
              </a:ext>
            </a:extLst>
          </p:cNvPr>
          <p:cNvSpPr>
            <a:spLocks noGrp="1"/>
          </p:cNvSpPr>
          <p:nvPr/>
        </p:nvSpPr>
        <p:spPr>
          <a:xfrm>
            <a:off x="742950" y="7000875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创伤性脑损伤   多模态影像   脑网络   人工智能   精准神经调控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4C7505-86F1-4153-99F7-C537911F6A65}"/>
              </a:ext>
            </a:extLst>
          </p:cNvPr>
          <p:cNvSpPr>
            <a:spLocks noGrp="1"/>
          </p:cNvSpPr>
          <p:nvPr/>
        </p:nvSpPr>
        <p:spPr>
          <a:xfrm>
            <a:off x="742950" y="7572375"/>
            <a:ext cx="8572500" cy="19050"/>
          </a:xfrm>
          <a:prstGeom prst="rect">
            <a:avLst/>
          </a:prstGeom>
          <a:solidFill>
            <a:srgbClr val="D8AD63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158CA0-F2F2-4328-AB45-59A35F85E008}"/>
              </a:ext>
            </a:extLst>
          </p:cNvPr>
          <p:cNvSpPr>
            <a:spLocks noGrp="1"/>
          </p:cNvSpPr>
          <p:nvPr/>
        </p:nvSpPr>
        <p:spPr>
          <a:xfrm>
            <a:off x="742950" y="77819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2DEB5"/>
                </a:solidFill>
              </a:defRPr>
            </a:pPr>
            <a:r>
              <a:rPr sz="1725" b="1">
                <a:solidFill>
                  <a:srgbClr val="F2DEB5"/>
                </a:solidFill>
              </a:rPr>
              <a:t>学术任职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76E7B2-EA56-445F-8DA6-2165402FB0DE}"/>
              </a:ext>
            </a:extLst>
          </p:cNvPr>
          <p:cNvSpPr>
            <a:spLocks noGrp="1"/>
          </p:cNvSpPr>
          <p:nvPr/>
        </p:nvSpPr>
        <p:spPr>
          <a:xfrm>
            <a:off x="2381250" y="7724775"/>
            <a:ext cx="693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defRPr sz="1650" b="0">
                <a:solidFill>
                  <a:srgbClr val="FFFFFF"/>
                </a:solidFill>
              </a:defRPr>
            </a:pPr>
            <a:r>
              <a:rPr sz="1650" b="0" dirty="0" err="1">
                <a:solidFill>
                  <a:srgbClr val="FFFFFF"/>
                </a:solidFill>
              </a:rPr>
              <a:t>陕西省中西医结合学会核医学分会常务委员</a:t>
            </a:r>
            <a:endParaRPr sz="1650" b="0" dirty="0">
              <a:solidFill>
                <a:srgbClr val="FFFFFF"/>
              </a:solidFill>
            </a:endParaRPr>
          </a:p>
          <a:p>
            <a:pPr algn="l">
              <a:lnSpc>
                <a:spcPct val="150000"/>
              </a:lnSpc>
              <a:defRPr sz="1650" b="0">
                <a:solidFill>
                  <a:srgbClr val="FFFFFF"/>
                </a:solidFill>
              </a:defRPr>
            </a:pPr>
            <a:r>
              <a:rPr sz="1650" b="0" dirty="0" err="1">
                <a:solidFill>
                  <a:srgbClr val="FFFFFF"/>
                </a:solidFill>
              </a:rPr>
              <a:t>中华医学会核医学分会大数据与人工智能工委会委员</a:t>
            </a:r>
            <a:endParaRPr sz="1650" b="0" dirty="0">
              <a:solidFill>
                <a:srgbClr val="FFFFFF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0B3E712-ECFD-467D-9C2B-3C1C2D8D577F}"/>
              </a:ext>
            </a:extLst>
          </p:cNvPr>
          <p:cNvSpPr>
            <a:spLocks noGrp="1"/>
          </p:cNvSpPr>
          <p:nvPr/>
        </p:nvSpPr>
        <p:spPr>
          <a:xfrm>
            <a:off x="419100" y="9067800"/>
            <a:ext cx="9448800" cy="5905500"/>
          </a:xfrm>
          <a:prstGeom prst="roundRect">
            <a:avLst>
              <a:gd name="adj" fmla="val 1935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964C1F-8691-45C9-9339-5CD1F8C658BD}"/>
              </a:ext>
            </a:extLst>
          </p:cNvPr>
          <p:cNvSpPr>
            <a:spLocks noGrp="1"/>
          </p:cNvSpPr>
          <p:nvPr/>
        </p:nvSpPr>
        <p:spPr>
          <a:xfrm>
            <a:off x="742950" y="941070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2DEB5"/>
                </a:solidFill>
              </a:defRPr>
            </a:pPr>
            <a:r>
              <a:rPr sz="2550" b="1">
                <a:solidFill>
                  <a:srgbClr val="F2DEB5"/>
                </a:solidFill>
              </a:rPr>
              <a:t>白丽君  教授 · 博士生导师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BE66DD-5C6F-4ED9-A515-008488186310}"/>
              </a:ext>
            </a:extLst>
          </p:cNvPr>
          <p:cNvSpPr>
            <a:spLocks noGrp="1"/>
          </p:cNvSpPr>
          <p:nvPr/>
        </p:nvSpPr>
        <p:spPr>
          <a:xfrm>
            <a:off x="742950" y="9953625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西安交通大学生命科学与技术学院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88BF5EF-D632-4330-9996-DD1B190E20AD}"/>
              </a:ext>
            </a:extLst>
          </p:cNvPr>
          <p:cNvSpPr>
            <a:spLocks noGrp="1"/>
          </p:cNvSpPr>
          <p:nvPr/>
        </p:nvSpPr>
        <p:spPr>
          <a:xfrm>
            <a:off x="742950" y="104775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0B467E"/>
          </a:solidFill>
          <a:ln w="9525">
            <a:solidFill>
              <a:srgbClr val="D8AD63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65A356-3761-4EB2-A9A4-21648FC0CA77}"/>
              </a:ext>
            </a:extLst>
          </p:cNvPr>
          <p:cNvSpPr>
            <a:spLocks noGrp="1"/>
          </p:cNvSpPr>
          <p:nvPr/>
        </p:nvSpPr>
        <p:spPr>
          <a:xfrm>
            <a:off x="819150" y="105727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陕西省“杰青”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AC9D215-FB98-4073-8026-E607D5089523}"/>
              </a:ext>
            </a:extLst>
          </p:cNvPr>
          <p:cNvSpPr>
            <a:spLocks noGrp="1"/>
          </p:cNvSpPr>
          <p:nvPr/>
        </p:nvSpPr>
        <p:spPr>
          <a:xfrm>
            <a:off x="2819400" y="10477500"/>
            <a:ext cx="3143250" cy="495300"/>
          </a:xfrm>
          <a:prstGeom prst="roundRect">
            <a:avLst>
              <a:gd name="adj" fmla="val 15385"/>
            </a:avLst>
          </a:prstGeom>
          <a:solidFill>
            <a:srgbClr val="0B467E"/>
          </a:solidFill>
          <a:ln w="9525">
            <a:solidFill>
              <a:srgbClr val="D8AD6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F922E22-A78D-4DB4-8096-56F0752E9B3B}"/>
              </a:ext>
            </a:extLst>
          </p:cNvPr>
          <p:cNvSpPr>
            <a:spLocks noGrp="1"/>
          </p:cNvSpPr>
          <p:nvPr/>
        </p:nvSpPr>
        <p:spPr>
          <a:xfrm>
            <a:off x="2895600" y="1057275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国家重点研发计划课题负责人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59358D-8D56-4D83-828A-08A9D3FB56AE}"/>
              </a:ext>
            </a:extLst>
          </p:cNvPr>
          <p:cNvSpPr>
            <a:spLocks noGrp="1"/>
          </p:cNvSpPr>
          <p:nvPr/>
        </p:nvSpPr>
        <p:spPr>
          <a:xfrm>
            <a:off x="742950" y="11182350"/>
            <a:ext cx="685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18000"/>
              </a:lnSpc>
              <a:defRPr sz="1725" b="0">
                <a:solidFill>
                  <a:srgbClr val="DCEAF5"/>
                </a:solidFill>
              </a:defRPr>
            </a:pPr>
            <a:r>
              <a:rPr sz="1725" b="0" dirty="0">
                <a:solidFill>
                  <a:srgbClr val="DCEAF5"/>
                </a:solidFill>
              </a:rPr>
              <a:t>长期致力于智能影像诊疗技术及装备研发，主持国家重点研发计划课题2项、国家自然科学基金面上项目5项</a:t>
            </a:r>
            <a:r>
              <a:rPr lang="zh-CN" altLang="en-US" sz="1725" b="0" dirty="0">
                <a:solidFill>
                  <a:srgbClr val="DCEAF5"/>
                </a:solidFill>
              </a:rPr>
              <a:t>，</a:t>
            </a:r>
            <a:r>
              <a:rPr lang="zh-CN" altLang="zh-CN" sz="1725" dirty="0"/>
              <a:t>国防基础加强技术领域基金、军队后勤生安专项课题</a:t>
            </a:r>
            <a:r>
              <a:rPr lang="zh-CN" altLang="en-US" sz="1725" dirty="0"/>
              <a:t>等；</a:t>
            </a:r>
            <a:r>
              <a:rPr sz="1725" b="0" dirty="0" err="1">
                <a:solidFill>
                  <a:srgbClr val="DCEAF5"/>
                </a:solidFill>
              </a:rPr>
              <a:t>代表性成果发表于</a:t>
            </a:r>
            <a:r>
              <a:rPr sz="1725" b="0" dirty="0">
                <a:solidFill>
                  <a:srgbClr val="DCEAF5"/>
                </a:solidFill>
              </a:rPr>
              <a:t> </a:t>
            </a:r>
            <a:r>
              <a:rPr sz="1725" b="0" dirty="0" err="1">
                <a:solidFill>
                  <a:srgbClr val="DCEAF5"/>
                </a:solidFill>
              </a:rPr>
              <a:t>Radiology、Advanced</a:t>
            </a:r>
            <a:r>
              <a:rPr sz="1725" b="0" dirty="0">
                <a:solidFill>
                  <a:srgbClr val="DCEAF5"/>
                </a:solidFill>
              </a:rPr>
              <a:t> </a:t>
            </a:r>
            <a:r>
              <a:rPr sz="1725" b="0" dirty="0" err="1">
                <a:solidFill>
                  <a:srgbClr val="DCEAF5"/>
                </a:solidFill>
              </a:rPr>
              <a:t>Science、JNNP、</a:t>
            </a:r>
            <a:r>
              <a:rPr lang="en-US" altLang="zh-CN" sz="1725" b="0" dirty="0" err="1">
                <a:solidFill>
                  <a:srgbClr val="DCEAF5"/>
                </a:solidFill>
              </a:rPr>
              <a:t>BJPsy</a:t>
            </a:r>
            <a:r>
              <a:rPr lang="zh-CN" altLang="en-US" sz="1725" b="0" dirty="0">
                <a:solidFill>
                  <a:srgbClr val="DCEAF5"/>
                </a:solidFill>
              </a:rPr>
              <a:t>、</a:t>
            </a:r>
            <a:r>
              <a:rPr lang="en-US" altLang="zh-CN" sz="1725" b="0" dirty="0">
                <a:solidFill>
                  <a:srgbClr val="DCEAF5"/>
                </a:solidFill>
              </a:rPr>
              <a:t>Genes</a:t>
            </a:r>
            <a:r>
              <a:rPr lang="zh-CN" altLang="en-US" sz="1725" b="0" dirty="0">
                <a:solidFill>
                  <a:srgbClr val="DCEAF5"/>
                </a:solidFill>
              </a:rPr>
              <a:t> </a:t>
            </a:r>
            <a:r>
              <a:rPr lang="en-US" altLang="zh-CN" sz="1725" b="0" dirty="0">
                <a:solidFill>
                  <a:srgbClr val="DCEAF5"/>
                </a:solidFill>
              </a:rPr>
              <a:t>and</a:t>
            </a:r>
            <a:r>
              <a:rPr lang="zh-CN" altLang="en-US" sz="1725" b="0" dirty="0">
                <a:solidFill>
                  <a:srgbClr val="DCEAF5"/>
                </a:solidFill>
              </a:rPr>
              <a:t> </a:t>
            </a:r>
            <a:r>
              <a:rPr lang="en-US" altLang="zh-CN" sz="1725" b="0" dirty="0">
                <a:solidFill>
                  <a:srgbClr val="DCEAF5"/>
                </a:solidFill>
              </a:rPr>
              <a:t>diseases</a:t>
            </a:r>
            <a:r>
              <a:rPr lang="zh-CN" altLang="en-US" sz="1725" b="0" dirty="0">
                <a:solidFill>
                  <a:srgbClr val="DCEAF5"/>
                </a:solidFill>
              </a:rPr>
              <a:t>、</a:t>
            </a:r>
            <a:r>
              <a:rPr sz="1725" b="0" dirty="0" err="1">
                <a:solidFill>
                  <a:srgbClr val="DCEAF5"/>
                </a:solidFill>
              </a:rPr>
              <a:t>NeuroImage</a:t>
            </a:r>
            <a:r>
              <a:rPr sz="1725" b="0" dirty="0">
                <a:solidFill>
                  <a:srgbClr val="DCEAF5"/>
                </a:solidFill>
              </a:rPr>
              <a:t> </a:t>
            </a:r>
            <a:r>
              <a:rPr sz="1725" b="0" dirty="0" err="1">
                <a:solidFill>
                  <a:srgbClr val="DCEAF5"/>
                </a:solidFill>
              </a:rPr>
              <a:t>等期刊</a:t>
            </a:r>
            <a:r>
              <a:rPr sz="1725" b="0" dirty="0">
                <a:solidFill>
                  <a:srgbClr val="DCEAF5"/>
                </a:solidFill>
              </a:rPr>
              <a:t>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FEB0B18-A072-42FB-ABBD-BF192FBD6B5F}"/>
              </a:ext>
            </a:extLst>
          </p:cNvPr>
          <p:cNvSpPr>
            <a:spLocks noGrp="1"/>
          </p:cNvSpPr>
          <p:nvPr/>
        </p:nvSpPr>
        <p:spPr>
          <a:xfrm>
            <a:off x="742950" y="128016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2DEB5"/>
                </a:solidFill>
              </a:defRPr>
            </a:pPr>
            <a:r>
              <a:rPr sz="1725" b="1">
                <a:solidFill>
                  <a:srgbClr val="F2DEB5"/>
                </a:solidFill>
              </a:rPr>
              <a:t>学术影响力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03FB837-9F3C-43F3-95C3-B197E859EBD5}"/>
              </a:ext>
            </a:extLst>
          </p:cNvPr>
          <p:cNvSpPr>
            <a:spLocks noGrp="1"/>
          </p:cNvSpPr>
          <p:nvPr/>
        </p:nvSpPr>
        <p:spPr>
          <a:xfrm>
            <a:off x="2381250" y="12744450"/>
            <a:ext cx="6934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H-index 37  ·  SCI总他引3959次  ·  获陕西科学技术一等奖等6项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C6891E9-1FB1-41C1-BD30-D21FFE8455C3}"/>
              </a:ext>
            </a:extLst>
          </p:cNvPr>
          <p:cNvSpPr>
            <a:spLocks noGrp="1"/>
          </p:cNvSpPr>
          <p:nvPr/>
        </p:nvSpPr>
        <p:spPr>
          <a:xfrm>
            <a:off x="742950" y="13335000"/>
            <a:ext cx="8572500" cy="19050"/>
          </a:xfrm>
          <a:prstGeom prst="rect">
            <a:avLst/>
          </a:prstGeom>
          <a:solidFill>
            <a:srgbClr val="D8AD63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2F97399-AC8C-4000-9302-2ACFBFC8BEC3}"/>
              </a:ext>
            </a:extLst>
          </p:cNvPr>
          <p:cNvSpPr>
            <a:spLocks noGrp="1"/>
          </p:cNvSpPr>
          <p:nvPr/>
        </p:nvSpPr>
        <p:spPr>
          <a:xfrm>
            <a:off x="742950" y="135540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2DEB5"/>
                </a:solidFill>
              </a:defRPr>
            </a:pPr>
            <a:r>
              <a:rPr sz="1725" b="1">
                <a:solidFill>
                  <a:srgbClr val="F2DEB5"/>
                </a:solidFill>
              </a:rPr>
              <a:t>主要任职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3611F0-7873-4E13-988C-4CF28EADACD0}"/>
              </a:ext>
            </a:extLst>
          </p:cNvPr>
          <p:cNvSpPr>
            <a:spLocks noGrp="1"/>
          </p:cNvSpPr>
          <p:nvPr/>
        </p:nvSpPr>
        <p:spPr>
          <a:xfrm>
            <a:off x="2381250" y="13496925"/>
            <a:ext cx="69342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defRPr sz="1650" b="0">
                <a:solidFill>
                  <a:srgbClr val="FFFFFF"/>
                </a:solidFill>
              </a:defRPr>
            </a:pPr>
            <a:r>
              <a:rPr sz="1650" b="0" dirty="0" err="1">
                <a:solidFill>
                  <a:srgbClr val="FFFFFF"/>
                </a:solidFill>
              </a:rPr>
              <a:t>中国针灸学会针灸医学影像专业委员会副主委</a:t>
            </a:r>
            <a:endParaRPr sz="1650" b="0" dirty="0">
              <a:solidFill>
                <a:srgbClr val="FFFFFF"/>
              </a:solidFill>
            </a:endParaRPr>
          </a:p>
          <a:p>
            <a:pPr algn="l">
              <a:lnSpc>
                <a:spcPct val="150000"/>
              </a:lnSpc>
              <a:defRPr sz="1650" b="0">
                <a:solidFill>
                  <a:srgbClr val="FFFFFF"/>
                </a:solidFill>
              </a:defRPr>
            </a:pPr>
            <a:r>
              <a:rPr sz="1650" b="0" dirty="0" err="1">
                <a:solidFill>
                  <a:srgbClr val="FFFFFF"/>
                </a:solidFill>
              </a:rPr>
              <a:t>中国针灸学会脑科学产学研创新联盟副理事长</a:t>
            </a:r>
            <a:endParaRPr lang="en-US" sz="1650" b="0" dirty="0">
              <a:solidFill>
                <a:srgbClr val="FFFFFF"/>
              </a:solidFill>
            </a:endParaRPr>
          </a:p>
          <a:p>
            <a:pPr algn="l">
              <a:lnSpc>
                <a:spcPct val="150000"/>
              </a:lnSpc>
              <a:defRPr sz="1650" b="0">
                <a:solidFill>
                  <a:srgbClr val="FFFFFF"/>
                </a:solidFill>
              </a:defRPr>
            </a:pPr>
            <a:r>
              <a:rPr lang="zh-CN" altLang="en-US" sz="1650" b="0" dirty="0">
                <a:solidFill>
                  <a:srgbClr val="FFFFFF"/>
                </a:solidFill>
              </a:rPr>
              <a:t>世界华人神经创伤学会（总部位于美国）执行委员会委员</a:t>
            </a:r>
            <a:endParaRPr sz="1650" b="0" dirty="0">
              <a:solidFill>
                <a:srgbClr val="FFFFFF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DE8AD5D-B0BF-43D3-8BE2-1908FB2E64C2}"/>
              </a:ext>
            </a:extLst>
          </p:cNvPr>
          <p:cNvSpPr>
            <a:spLocks noGrp="1"/>
          </p:cNvSpPr>
          <p:nvPr/>
        </p:nvSpPr>
        <p:spPr>
          <a:xfrm>
            <a:off x="0" y="15382875"/>
            <a:ext cx="10287000" cy="552450"/>
          </a:xfrm>
          <a:prstGeom prst="rect">
            <a:avLst/>
          </a:prstGeom>
          <a:solidFill>
            <a:srgbClr val="F2DEB5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74B656-B38D-4870-88EB-E34051B8F97C}"/>
              </a:ext>
            </a:extLst>
          </p:cNvPr>
          <p:cNvSpPr>
            <a:spLocks noGrp="1"/>
          </p:cNvSpPr>
          <p:nvPr/>
        </p:nvSpPr>
        <p:spPr>
          <a:xfrm>
            <a:off x="666750" y="15459075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052A55"/>
                </a:solidFill>
              </a:defRPr>
            </a:pPr>
            <a:r>
              <a:rPr sz="2025" b="1">
                <a:solidFill>
                  <a:srgbClr val="052A55"/>
                </a:solidFill>
              </a:rPr>
              <a:t>联合优势  临床队列与转化场景 + 脑科学与工程技术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B718CB8-BC47-4283-98BD-95295C242506}"/>
              </a:ext>
            </a:extLst>
          </p:cNvPr>
          <p:cNvSpPr>
            <a:spLocks noGrp="1"/>
          </p:cNvSpPr>
          <p:nvPr/>
        </p:nvSpPr>
        <p:spPr>
          <a:xfrm>
            <a:off x="723900" y="16154400"/>
            <a:ext cx="8839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 dirty="0" err="1">
                <a:solidFill>
                  <a:srgbClr val="FFFFFF"/>
                </a:solidFill>
              </a:rPr>
              <a:t>为博士后提供跨学院、跨医院、跨学科的联合指导，支持形成独立研究方向与</a:t>
            </a:r>
            <a:endParaRPr lang="en-US" sz="1875" b="1" dirty="0">
              <a:solidFill>
                <a:srgbClr val="FFFFFF"/>
              </a:solidFill>
            </a:endParaRPr>
          </a:p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</a:rPr>
              <a:t>可</a:t>
            </a:r>
            <a:r>
              <a:rPr sz="1875" b="1" dirty="0" err="1">
                <a:solidFill>
                  <a:srgbClr val="FFFFFF"/>
                </a:solidFill>
              </a:rPr>
              <a:t>持续</a:t>
            </a:r>
            <a:r>
              <a:rPr lang="zh-CN" altLang="en-US" sz="1875" b="1" dirty="0">
                <a:solidFill>
                  <a:srgbClr val="FFFFFF"/>
                </a:solidFill>
              </a:rPr>
              <a:t>发展的</a:t>
            </a:r>
            <a:r>
              <a:rPr sz="1875" b="1" dirty="0" err="1">
                <a:solidFill>
                  <a:srgbClr val="FFFFFF"/>
                </a:solidFill>
              </a:rPr>
              <a:t>成果链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AF53967-3FC5-495D-99F0-EB72C17132DD}"/>
              </a:ext>
            </a:extLst>
          </p:cNvPr>
          <p:cNvSpPr>
            <a:spLocks noGrp="1"/>
          </p:cNvSpPr>
          <p:nvPr/>
        </p:nvSpPr>
        <p:spPr>
          <a:xfrm>
            <a:off x="590550" y="16973550"/>
            <a:ext cx="9105900" cy="762000"/>
          </a:xfrm>
          <a:prstGeom prst="roundRect">
            <a:avLst>
              <a:gd name="adj" fmla="val 15000"/>
            </a:avLst>
          </a:prstGeom>
          <a:solidFill>
            <a:srgbClr val="0B467E"/>
          </a:solidFill>
          <a:ln w="19050">
            <a:solidFill>
              <a:srgbClr val="4BC1D8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DB4BCE-A36E-49EE-96C0-99374AB71A03}"/>
              </a:ext>
            </a:extLst>
          </p:cNvPr>
          <p:cNvSpPr>
            <a:spLocks noGrp="1"/>
          </p:cNvSpPr>
          <p:nvPr/>
        </p:nvSpPr>
        <p:spPr>
          <a:xfrm>
            <a:off x="781050" y="17154525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2DEB5"/>
                </a:solidFill>
              </a:defRPr>
            </a:pPr>
            <a:r>
              <a:rPr sz="1800" b="1">
                <a:solidFill>
                  <a:srgbClr val="F2DEB5"/>
                </a:solidFill>
              </a:rPr>
              <a:t>诚邀海内外优秀博士加入｜联系人：王卓楠｜wangzhuonan@xjtu.edu.cn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A782E-6799-C6B0-9EDF-D25ED9EAB6E9}"/>
              </a:ext>
            </a:extLst>
          </p:cNvPr>
          <p:cNvSpPr>
            <a:spLocks noGrp="1"/>
          </p:cNvSpPr>
          <p:nvPr/>
        </p:nvSpPr>
        <p:spPr>
          <a:xfrm>
            <a:off x="1285875" y="2667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800" b="1" dirty="0" err="1">
                <a:solidFill>
                  <a:srgbClr val="FFFFFF"/>
                </a:solidFill>
              </a:rPr>
              <a:t>西安交通大学</a:t>
            </a:r>
            <a:r>
              <a:rPr lang="zh-CN" altLang="en-US" sz="2800" b="1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</a:rPr>
              <a:t>医</a:t>
            </a:r>
            <a:r>
              <a:rPr lang="zh-CN" altLang="en-US" sz="2800" b="1" dirty="0">
                <a:solidFill>
                  <a:srgbClr val="FFFFFF"/>
                </a:solidFill>
              </a:rPr>
              <a:t>工</a:t>
            </a:r>
            <a:r>
              <a:rPr sz="2800" b="1" dirty="0" err="1">
                <a:solidFill>
                  <a:srgbClr val="FFFFFF"/>
                </a:solidFill>
              </a:rPr>
              <a:t>交叉博士后招聘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872B75-B8AA-A0AF-FF7C-9132E53731CA}"/>
              </a:ext>
            </a:extLst>
          </p:cNvPr>
          <p:cNvSpPr>
            <a:spLocks noGrp="1"/>
          </p:cNvSpPr>
          <p:nvPr/>
        </p:nvSpPr>
        <p:spPr>
          <a:xfrm>
            <a:off x="1285874" y="771524"/>
            <a:ext cx="7858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2DEB5"/>
                </a:solidFill>
              </a:defRPr>
            </a:pPr>
            <a:r>
              <a:rPr sz="2800" b="1" dirty="0">
                <a:solidFill>
                  <a:srgbClr val="F2DEB5"/>
                </a:solidFill>
              </a:rPr>
              <a:t>脑—</a:t>
            </a:r>
            <a:r>
              <a:rPr sz="2800" b="1" dirty="0" err="1">
                <a:solidFill>
                  <a:srgbClr val="F2DEB5"/>
                </a:solidFill>
              </a:rPr>
              <a:t>器交互重大脑疾病机制及精准神经调控团队</a:t>
            </a:r>
            <a:endParaRPr sz="2800" b="1" dirty="0">
              <a:solidFill>
                <a:srgbClr val="F2DEB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225E0B-E884-93BB-99D8-0DB0AA59E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4" y="3530341"/>
            <a:ext cx="1838036" cy="22166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4061A6-AB7F-AD94-D1BE-9A2E7A548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93" y="9359674"/>
            <a:ext cx="2032907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866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412</Words>
  <Application>Microsoft Office PowerPoint</Application>
  <DocSecurity>0</DocSecurity>
  <PresentationFormat>自定义</PresentationFormat>
  <Paragraphs>69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卓楠 王</cp:lastModifiedBy>
  <cp:revision>12</cp:revision>
  <dcterms:created xsi:type="dcterms:W3CDTF">2026-08-12T08:16:00Z</dcterms:created>
  <dcterms:modified xsi:type="dcterms:W3CDTF">2026-09-13T06:11:38Z</dcterms:modified>
</cp:coreProperties>
</file>